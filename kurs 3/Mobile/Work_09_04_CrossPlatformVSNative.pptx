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6858000" cy="9144000"/>
  <p:embeddedFontLst>
    <p:embeddedFont>
      <p:font typeface="Roboto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regular.fntdata"/><Relationship Id="rId11" Type="http://schemas.openxmlformats.org/officeDocument/2006/relationships/slide" Target="slides/slide6.xml"/><Relationship Id="rId22" Type="http://schemas.openxmlformats.org/officeDocument/2006/relationships/font" Target="fonts/Roboto-italic.fntdata"/><Relationship Id="rId10" Type="http://schemas.openxmlformats.org/officeDocument/2006/relationships/slide" Target="slides/slide5.xml"/><Relationship Id="rId21" Type="http://schemas.openxmlformats.org/officeDocument/2006/relationships/font" Target="fonts/Roboto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schemas.openxmlformats.org/officeDocument/2006/relationships/font" Target="fonts/Roboto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fa19a7ff6a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fa19a7ff6a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fa19a7ff6a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fa19a7ff6a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fa19a7ff6a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fa19a7ff6a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fa19a7ff6a_0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fa19a7ff6a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fa19a7ff6a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fa19a7ff6a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fa19a7ff6a_0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fa19a7ff6a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fa19a7ff6a_0_1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fa19a7ff6a_0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fa19a7ff6a_0_1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fa19a7ff6a_0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fa19a7ff6a_0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fa19a7ff6a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fa19a7ff6a_0_1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fa19a7ff6a_0_1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fa19a7ff6a_0_1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fa19a7ff6a_0_1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fa19a7ff6a_0_1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fa19a7ff6a_0_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fa19a7ff6a_0_1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fa19a7ff6a_0_1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flipH="1">
            <a:off x="8246400" y="4245925"/>
            <a:ext cx="897600" cy="8976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8246400" y="4245875"/>
            <a:ext cx="897600" cy="897600"/>
          </a:xfrm>
          <a:prstGeom prst="round1Rect">
            <a:avLst>
              <a:gd fmla="val 16667" name="adj"/>
            </a:avLst>
          </a:prstGeom>
          <a:solidFill>
            <a:schemeClr val="lt1">
              <a:alpha val="6808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5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" type="body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2" type="body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/>
          <p:nvPr/>
        </p:nvSpPr>
        <p:spPr>
          <a:xfrm flipH="1" rot="10800000">
            <a:off x="0" y="656400"/>
            <a:ext cx="9144000" cy="448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6"/>
          <p:cNvSpPr/>
          <p:nvPr/>
        </p:nvSpPr>
        <p:spPr>
          <a:xfrm>
            <a:off x="0" y="65635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6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/>
        </p:nvSpPr>
        <p:spPr>
          <a:xfrm flipH="1" rot="10800000">
            <a:off x="3276600" y="25"/>
            <a:ext cx="58674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7"/>
          <p:cNvSpPr/>
          <p:nvPr/>
        </p:nvSpPr>
        <p:spPr>
          <a:xfrm rot="-5400000">
            <a:off x="759150" y="2517450"/>
            <a:ext cx="51435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7"/>
          <p:cNvSpPr txBox="1"/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0" name="Google Shape;40;p7"/>
          <p:cNvSpPr txBox="1"/>
          <p:nvPr>
            <p:ph idx="1" type="body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1" name="Google Shape;41;p7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/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 flipH="1">
            <a:off x="0" y="0"/>
            <a:ext cx="45720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9"/>
          <p:cNvSpPr/>
          <p:nvPr/>
        </p:nvSpPr>
        <p:spPr>
          <a:xfrm rot="5400000">
            <a:off x="1946425" y="2517750"/>
            <a:ext cx="51429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9" name="Google Shape;49;p9"/>
          <p:cNvSpPr txBox="1"/>
          <p:nvPr>
            <p:ph idx="1" type="subTitle"/>
          </p:nvPr>
        </p:nvSpPr>
        <p:spPr>
          <a:xfrm>
            <a:off x="265500" y="2779467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0" name="Google Shape;50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9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/>
        </p:nvSpPr>
        <p:spPr>
          <a:xfrm flipH="1" rot="10800000">
            <a:off x="0" y="0"/>
            <a:ext cx="9144000" cy="4695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0"/>
          <p:cNvSpPr/>
          <p:nvPr/>
        </p:nvSpPr>
        <p:spPr>
          <a:xfrm flipH="1" rot="10800000">
            <a:off x="0" y="4622725"/>
            <a:ext cx="9144000" cy="741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0"/>
          <p:cNvSpPr txBox="1"/>
          <p:nvPr>
            <p:ph idx="1" type="body"/>
          </p:nvPr>
        </p:nvSpPr>
        <p:spPr>
          <a:xfrm>
            <a:off x="57150" y="4696825"/>
            <a:ext cx="8382000" cy="44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</a:lstStyle>
          <a:p/>
        </p:txBody>
      </p:sp>
      <p:sp>
        <p:nvSpPr>
          <p:cNvPr id="56" name="Google Shape;56;p10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4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1"/>
          <p:cNvSpPr txBox="1"/>
          <p:nvPr>
            <p:ph hasCustomPrompt="1" type="title"/>
          </p:nvPr>
        </p:nvSpPr>
        <p:spPr>
          <a:xfrm>
            <a:off x="475500" y="1258525"/>
            <a:ext cx="82221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9" name="Google Shape;59;p11"/>
          <p:cNvSpPr txBox="1"/>
          <p:nvPr>
            <p:ph idx="1" type="body"/>
          </p:nvPr>
        </p:nvSpPr>
        <p:spPr>
          <a:xfrm>
            <a:off x="475500" y="3304625"/>
            <a:ext cx="82221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0" name="Google Shape;60;p1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accent4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terial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  <a:defRPr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3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Нативная и кроссплатформенная разработка</a:t>
            </a:r>
            <a:endParaRPr/>
          </a:p>
        </p:txBody>
      </p:sp>
      <p:sp>
        <p:nvSpPr>
          <p:cNvPr id="68" name="Google Shape;68;p13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мобильных приложений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4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Нативная</a:t>
            </a:r>
            <a:endParaRPr/>
          </a:p>
        </p:txBody>
      </p:sp>
      <p:sp>
        <p:nvSpPr>
          <p:cNvPr id="74" name="Google Shape;74;p14"/>
          <p:cNvSpPr txBox="1"/>
          <p:nvPr>
            <p:ph idx="1" type="subTitle"/>
          </p:nvPr>
        </p:nvSpPr>
        <p:spPr>
          <a:xfrm>
            <a:off x="265500" y="2779467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Java/Swift</a:t>
            </a:r>
            <a:endParaRPr/>
          </a:p>
        </p:txBody>
      </p:sp>
      <p:sp>
        <p:nvSpPr>
          <p:cNvPr id="75" name="Google Shape;75;p14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Особенности: 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ru" sz="1900">
                <a:latin typeface="Times New Roman"/>
                <a:ea typeface="Times New Roman"/>
                <a:cs typeface="Times New Roman"/>
                <a:sym typeface="Times New Roman"/>
              </a:rPr>
              <a:t>Максимальная производительность</a:t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 sz="1900">
                <a:latin typeface="Times New Roman"/>
                <a:ea typeface="Times New Roman"/>
                <a:cs typeface="Times New Roman"/>
                <a:sym typeface="Times New Roman"/>
              </a:rPr>
              <a:t>Полный доступ к функциям ОС</a:t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 sz="1900">
                <a:latin typeface="Times New Roman"/>
                <a:ea typeface="Times New Roman"/>
                <a:cs typeface="Times New Roman"/>
                <a:sym typeface="Times New Roman"/>
              </a:rPr>
              <a:t>Дороже и дольше</a:t>
            </a:r>
            <a:r>
              <a:rPr lang="ru">
                <a:latin typeface="Arial"/>
                <a:ea typeface="Arial"/>
                <a:cs typeface="Arial"/>
                <a:sym typeface="Arial"/>
              </a:rPr>
              <a:t> </a:t>
            </a:r>
            <a:endParaRPr sz="25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5"/>
          <p:cNvSpPr txBox="1"/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000"/>
              <a:t>Производительность</a:t>
            </a:r>
            <a:endParaRPr sz="2000"/>
          </a:p>
        </p:txBody>
      </p:sp>
      <p:sp>
        <p:nvSpPr>
          <p:cNvPr id="81" name="Google Shape;81;p15"/>
          <p:cNvSpPr txBox="1"/>
          <p:nvPr>
            <p:ph idx="1" type="body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ru"/>
              <a:t>Нативной разработки</a:t>
            </a:r>
            <a:endParaRPr/>
          </a:p>
        </p:txBody>
      </p:sp>
      <p:sp>
        <p:nvSpPr>
          <p:cNvPr id="82" name="Google Shape;82;p15"/>
          <p:cNvSpPr txBox="1"/>
          <p:nvPr/>
        </p:nvSpPr>
        <p:spPr>
          <a:xfrm>
            <a:off x="3450675" y="1008875"/>
            <a:ext cx="5471700" cy="299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/>
              <a:t>Когда вы пишете на Kotlin или Swift, ваш код компилируется </a:t>
            </a:r>
            <a:r>
              <a:rPr b="1" lang="ru" sz="1100"/>
              <a:t>напрямую в машинный код</a:t>
            </a:r>
            <a:r>
              <a:rPr lang="ru" sz="1100"/>
              <a:t> платформы (через ART на Android и LLVM на iOS). Нет прослойки вроде JavaScript-моста (как в React Native) или виртуальной машины (как в Flutter с его Skia-движком). Это даёт: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b="1" lang="ru" sz="1100"/>
              <a:t>Плавные анимации</a:t>
            </a:r>
            <a:r>
              <a:rPr lang="ru" sz="1100"/>
              <a:t> при 120 Гц без рывков — особенно важно для игр, графических редакторов или сложных UI-переходов.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ru" sz="1100"/>
              <a:t>Мгновенный старт</a:t>
            </a:r>
            <a:r>
              <a:rPr lang="ru" sz="1100"/>
              <a:t> — приложение открывается на долю секунды быстрее, что критично для пользовательского опыта.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ru" sz="1100"/>
              <a:t>Экономия батареи</a:t>
            </a:r>
            <a:r>
              <a:rPr lang="ru" sz="1100"/>
              <a:t> — код выполняется эффективнее, меньше лишних вычислений.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ru" sz="1100"/>
              <a:t>Для большинства бизнес-приложений разница незаметна, но если вы делаете </a:t>
            </a:r>
            <a:r>
              <a:rPr b="1" lang="ru" sz="1100"/>
              <a:t>видеоредактор, AR-приложение или финансовый трекер с шифрованием на лету</a:t>
            </a:r>
            <a:r>
              <a:rPr lang="ru" sz="1100"/>
              <a:t> — натив не имеет альтернатив.</a:t>
            </a:r>
            <a:endParaRPr sz="1100"/>
          </a:p>
        </p:txBody>
      </p:sp>
      <p:pic>
        <p:nvPicPr>
          <p:cNvPr id="83" name="Google Shape;8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613" y="2316575"/>
            <a:ext cx="2954924" cy="1966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6"/>
          <p:cNvSpPr txBox="1"/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rPr b="1" lang="ru" sz="2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Полный доступ к функциям ОС</a:t>
            </a:r>
            <a:endParaRPr sz="3300"/>
          </a:p>
        </p:txBody>
      </p:sp>
      <p:sp>
        <p:nvSpPr>
          <p:cNvPr id="89" name="Google Shape;89;p16"/>
          <p:cNvSpPr txBox="1"/>
          <p:nvPr>
            <p:ph idx="1" type="body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0" name="Google Shape;90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6075" y="1638114"/>
            <a:ext cx="2808001" cy="2818860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6"/>
          <p:cNvSpPr txBox="1"/>
          <p:nvPr/>
        </p:nvSpPr>
        <p:spPr>
          <a:xfrm>
            <a:off x="3665200" y="935300"/>
            <a:ext cx="5149800" cy="280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/>
              <a:t>Нативные языки дают прямой доступ ко всем API, которые выпускает Apple </a:t>
            </a:r>
            <a:r>
              <a:rPr lang="ru" sz="1100"/>
              <a:t>или </a:t>
            </a:r>
            <a:r>
              <a:rPr lang="ru" sz="1100"/>
              <a:t>Google</a:t>
            </a:r>
            <a:r>
              <a:rPr lang="ru" sz="1100"/>
              <a:t>, в день их выхода</a:t>
            </a:r>
            <a:r>
              <a:rPr lang="ru" sz="1100"/>
              <a:t>. Вы можете: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ru" sz="1100"/>
              <a:t>Использовать новейшие датчики (LIDAR на iPhone, барометр на Android);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ru" sz="1100"/>
              <a:t>Работать с системной клавиатурой, уведомлениями, виджетами, интерактивными уведомлениями;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ru" sz="1100"/>
              <a:t>Интегрироваться с Apple Pay/Google Pay, биометрией, NFC, Bluetooth LE — без костылей;</a:t>
            </a:r>
            <a:endParaRPr sz="11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ru" sz="1100"/>
              <a:t>Оптимизировать работу с памятью и потоками на уровне ОС.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ru" sz="1100"/>
              <a:t>Кросс-платформенные фреймворки часто «догоняют» новые API с задержкой в месяцы, а некоторые возможности (например, сложные жесты или 3D Touch) вообще остаются недоступны.</a:t>
            </a:r>
            <a:endParaRPr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7"/>
          <p:cNvSpPr txBox="1"/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rPr b="1" lang="ru" sz="2000">
                <a:latin typeface="Arial"/>
                <a:ea typeface="Arial"/>
                <a:cs typeface="Arial"/>
                <a:sym typeface="Arial"/>
              </a:rPr>
              <a:t>дороже и дольше</a:t>
            </a:r>
            <a:endParaRPr sz="3100"/>
          </a:p>
        </p:txBody>
      </p:sp>
      <p:sp>
        <p:nvSpPr>
          <p:cNvPr id="97" name="Google Shape;97;p17"/>
          <p:cNvSpPr txBox="1"/>
          <p:nvPr>
            <p:ph idx="1" type="body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8" name="Google Shape;98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120348" y="2191073"/>
            <a:ext cx="3369925" cy="1919375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7"/>
          <p:cNvSpPr txBox="1"/>
          <p:nvPr/>
        </p:nvSpPr>
        <p:spPr>
          <a:xfrm>
            <a:off x="3569275" y="1884050"/>
            <a:ext cx="5664300" cy="16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100"/>
              <a:t>Дороже</a:t>
            </a:r>
            <a:r>
              <a:rPr lang="ru" sz="1100"/>
              <a:t> — потому что вам нужны </a:t>
            </a:r>
            <a:r>
              <a:rPr b="1" lang="ru" sz="1100"/>
              <a:t>две команды</a:t>
            </a:r>
            <a:r>
              <a:rPr lang="ru" sz="1100"/>
              <a:t> (или два разработчика) для двух платформ. Плюс выше зарплаты у нативных специалистов (особенно iOS-разработчиков). Но если у вас сложный продукт, </a:t>
            </a:r>
            <a:r>
              <a:rPr b="1" lang="ru" sz="1100"/>
              <a:t>экономия на кросс-платформе обернётся затратами на отладку и костыли</a:t>
            </a:r>
            <a:r>
              <a:rPr lang="ru" sz="1100"/>
              <a:t>.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ru" sz="1100"/>
              <a:t>Дольше</a:t>
            </a:r>
            <a:r>
              <a:rPr lang="ru" sz="1100"/>
              <a:t> — потому что каждая платформа живёт по своим правилам: разные UI-паттерны (Material Design vs Human Interface Guidelines), разные навигации, разные жизненные циклы активности.</a:t>
            </a:r>
            <a:endParaRPr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8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2800"/>
              <a:t>Кроссплатформенный</a:t>
            </a:r>
            <a:endParaRPr sz="2800"/>
          </a:p>
        </p:txBody>
      </p:sp>
      <p:sp>
        <p:nvSpPr>
          <p:cNvPr id="105" name="Google Shape;105;p18"/>
          <p:cNvSpPr txBox="1"/>
          <p:nvPr>
            <p:ph idx="1" type="subTitle"/>
          </p:nvPr>
        </p:nvSpPr>
        <p:spPr>
          <a:xfrm>
            <a:off x="265500" y="2779467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Flutter/React Native</a:t>
            </a:r>
            <a:r>
              <a:rPr lang="ru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3100"/>
          </a:p>
        </p:txBody>
      </p:sp>
      <p:sp>
        <p:nvSpPr>
          <p:cNvPr id="106" name="Google Shape;106;p18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Особенности: 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Экономия времени и денег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"/>
              <a:t>единая кодовая база</a:t>
            </a:r>
            <a:endParaRPr sz="25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9"/>
          <p:cNvSpPr txBox="1"/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ru" sz="2100">
                <a:latin typeface="Arial"/>
                <a:ea typeface="Arial"/>
                <a:cs typeface="Arial"/>
                <a:sym typeface="Arial"/>
              </a:rPr>
              <a:t>Одна кодовая база</a:t>
            </a:r>
            <a:r>
              <a:rPr lang="ru" sz="2100">
                <a:latin typeface="Arial"/>
                <a:ea typeface="Arial"/>
                <a:cs typeface="Arial"/>
                <a:sym typeface="Arial"/>
              </a:rPr>
              <a:t> </a:t>
            </a:r>
            <a:endParaRPr sz="3400"/>
          </a:p>
        </p:txBody>
      </p:sp>
      <p:sp>
        <p:nvSpPr>
          <p:cNvPr id="112" name="Google Shape;112;p19"/>
          <p:cNvSpPr txBox="1"/>
          <p:nvPr>
            <p:ph idx="1" type="body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ru" sz="1400"/>
              <a:t>Пишете один раз — запускаете на iOS и Android. Это колоссальная экономия на найме двух отдельных команд. Особенно выгодно для стартапов, MVP и продуктов с ограниченным бюджетом. </a:t>
            </a:r>
            <a:endParaRPr sz="1400"/>
          </a:p>
        </p:txBody>
      </p:sp>
      <p:pic>
        <p:nvPicPr>
          <p:cNvPr id="113" name="Google Shape;113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11750" y="1087902"/>
            <a:ext cx="4635575" cy="3251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0"/>
          <p:cNvSpPr txBox="1"/>
          <p:nvPr>
            <p:ph type="title"/>
          </p:nvPr>
        </p:nvSpPr>
        <p:spPr>
          <a:xfrm>
            <a:off x="226075" y="357800"/>
            <a:ext cx="2808000" cy="1644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000"/>
              <a:t>Минус производительность</a:t>
            </a:r>
            <a:endParaRPr b="1" sz="2000"/>
          </a:p>
        </p:txBody>
      </p:sp>
      <p:sp>
        <p:nvSpPr>
          <p:cNvPr id="119" name="Google Shape;119;p20"/>
          <p:cNvSpPr txBox="1"/>
          <p:nvPr>
            <p:ph idx="1" type="body"/>
          </p:nvPr>
        </p:nvSpPr>
        <p:spPr>
          <a:xfrm>
            <a:off x="3617400" y="1057600"/>
            <a:ext cx="5082600" cy="31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rgbClr val="000000"/>
                </a:solidFill>
              </a:rPr>
              <a:t>В React Native асинхронный мост — узкое горлышко: частые обновления UI могут вызывать «лаги» (особенно при тяжёлых анимациях или больших списках).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>
                <a:solidFill>
                  <a:srgbClr val="000000"/>
                </a:solidFill>
              </a:rPr>
              <a:t>В Flutter всё рисуется самим движком, но при этом приложение весит больше (минимальный бинарник ~4–5 МБ), а старт может быть чуть медленнее из-за инициализации движка. Для игр или реального времени — не лучший выбо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pic>
        <p:nvPicPr>
          <p:cNvPr id="120" name="Google Shape;120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1275" y="2332350"/>
            <a:ext cx="2748726" cy="175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1"/>
          <p:cNvSpPr txBox="1"/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400">
                <a:latin typeface="Arial"/>
                <a:ea typeface="Arial"/>
                <a:cs typeface="Arial"/>
                <a:sym typeface="Arial"/>
              </a:rPr>
              <a:t>Доступ к новым API ОС — с опозданием</a:t>
            </a:r>
            <a:r>
              <a:rPr lang="ru" sz="1400">
                <a:latin typeface="Arial"/>
                <a:ea typeface="Arial"/>
                <a:cs typeface="Arial"/>
                <a:sym typeface="Arial"/>
              </a:rPr>
              <a:t> </a:t>
            </a:r>
            <a:endParaRPr sz="2700"/>
          </a:p>
        </p:txBody>
      </p:sp>
      <p:sp>
        <p:nvSpPr>
          <p:cNvPr id="126" name="Google Shape;126;p21"/>
          <p:cNvSpPr txBox="1"/>
          <p:nvPr>
            <p:ph idx="1" type="body"/>
          </p:nvPr>
        </p:nvSpPr>
        <p:spPr>
          <a:xfrm>
            <a:off x="3586000" y="1555225"/>
            <a:ext cx="5354700" cy="31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ru" sz="1500">
                <a:solidFill>
                  <a:srgbClr val="000000"/>
                </a:solidFill>
              </a:rPr>
              <a:t>Apple и Google выпускают новые фичи (камеры, датчики, виджеты, жесты) — кросс-платформа их «догоняет» через плагины или через написание собственного нативного модуля. Это означает, что вы либо ждёте обновления библиотеки, либо сами пишете «нативные» куски кода на Java/Kotlin или Objective-C/Swift, что частично нивелирует преимущество единого кода. </a:t>
            </a:r>
            <a:endParaRPr sz="1500">
              <a:solidFill>
                <a:srgbClr val="000000"/>
              </a:solidFill>
            </a:endParaRPr>
          </a:p>
        </p:txBody>
      </p:sp>
      <p:pic>
        <p:nvPicPr>
          <p:cNvPr id="127" name="Google Shape;127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3875" y="2068500"/>
            <a:ext cx="2110226" cy="21369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2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Кроссплатформенность VS Нативная разработка</a:t>
            </a:r>
            <a:endParaRPr/>
          </a:p>
        </p:txBody>
      </p:sp>
      <p:pic>
        <p:nvPicPr>
          <p:cNvPr id="133" name="Google Shape;133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30150" y="771450"/>
            <a:ext cx="6762806" cy="421965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22"/>
          <p:cNvSpPr txBox="1"/>
          <p:nvPr/>
        </p:nvSpPr>
        <p:spPr>
          <a:xfrm>
            <a:off x="98250" y="3702200"/>
            <a:ext cx="34710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100">
                <a:highlight>
                  <a:srgbClr val="9900FF"/>
                </a:highlight>
                <a:latin typeface="Roboto"/>
                <a:ea typeface="Roboto"/>
                <a:cs typeface="Roboto"/>
                <a:sym typeface="Roboto"/>
              </a:rPr>
              <a:t>Кроссплатформенность</a:t>
            </a:r>
            <a:endParaRPr b="1" sz="1700">
              <a:highlight>
                <a:srgbClr val="9900FF"/>
              </a:highlight>
            </a:endParaRPr>
          </a:p>
        </p:txBody>
      </p:sp>
      <p:sp>
        <p:nvSpPr>
          <p:cNvPr id="135" name="Google Shape;135;p22"/>
          <p:cNvSpPr txBox="1"/>
          <p:nvPr/>
        </p:nvSpPr>
        <p:spPr>
          <a:xfrm>
            <a:off x="5224275" y="3548300"/>
            <a:ext cx="3000000" cy="6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3100">
                <a:highlight>
                  <a:srgbClr val="00FF00"/>
                </a:highlight>
                <a:latin typeface="Roboto"/>
                <a:ea typeface="Roboto"/>
                <a:cs typeface="Roboto"/>
                <a:sym typeface="Roboto"/>
              </a:rPr>
              <a:t>Нативность</a:t>
            </a:r>
            <a:endParaRPr b="1" sz="2700">
              <a:highlight>
                <a:srgbClr val="00FF00"/>
              </a:highlight>
            </a:endParaRPr>
          </a:p>
        </p:txBody>
      </p:sp>
      <p:sp>
        <p:nvSpPr>
          <p:cNvPr id="136" name="Google Shape;136;p22"/>
          <p:cNvSpPr txBox="1"/>
          <p:nvPr/>
        </p:nvSpPr>
        <p:spPr>
          <a:xfrm>
            <a:off x="3450075" y="3481200"/>
            <a:ext cx="34710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9600">
                <a:latin typeface="Roboto"/>
                <a:ea typeface="Roboto"/>
                <a:cs typeface="Roboto"/>
                <a:sym typeface="Roboto"/>
              </a:rPr>
              <a:t>VS</a:t>
            </a:r>
            <a:endParaRPr b="1" sz="96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3"/>
          <p:cNvSpPr txBox="1"/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Instagram</a:t>
            </a:r>
            <a:endParaRPr/>
          </a:p>
        </p:txBody>
      </p:sp>
      <p:sp>
        <p:nvSpPr>
          <p:cNvPr id="142" name="Google Shape;142;p23"/>
          <p:cNvSpPr txBox="1"/>
          <p:nvPr>
            <p:ph idx="1" type="body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43" name="Google Shape;143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5164" y="1924926"/>
            <a:ext cx="2269825" cy="224525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23"/>
          <p:cNvSpPr txBox="1"/>
          <p:nvPr/>
        </p:nvSpPr>
        <p:spPr>
          <a:xfrm>
            <a:off x="3843150" y="1203700"/>
            <a:ext cx="4877400" cy="30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100"/>
              <a:t>Начало</a:t>
            </a:r>
            <a:r>
              <a:rPr lang="ru" sz="1100"/>
              <a:t>: Как и многие продукты Meta (Facebook), Instagram для ускорения разработки использовал </a:t>
            </a:r>
            <a:r>
              <a:rPr b="1" lang="ru" sz="1100"/>
              <a:t>React Native</a:t>
            </a:r>
            <a:r>
              <a:rPr lang="ru" sz="1100"/>
              <a:t>. Это позволяло быстро внедрять фичи на обеих платформах.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100"/>
              <a:t>Проблема</a:t>
            </a:r>
            <a:r>
              <a:rPr lang="ru" sz="1100"/>
              <a:t>: По мере роста аудитории, команда столкнулась с тем, что кроссплатформенный слой становится узким горлышком. Для глобального продукта с миллиардами пользователей даже микро-задержки в производительности оборачивались колоссальными потерями .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100"/>
              <a:t>Решение</a:t>
            </a:r>
            <a:r>
              <a:rPr lang="ru" sz="1100"/>
              <a:t>: Instagram </a:t>
            </a:r>
            <a:r>
              <a:rPr b="1" lang="ru" sz="1100"/>
              <a:t>годами вычищал React Native из своего кода</a:t>
            </a:r>
            <a:r>
              <a:rPr lang="ru" sz="1100"/>
              <a:t>, мигрируя критически важные части (например, потоки с рекламой) обратно на </a:t>
            </a:r>
            <a:r>
              <a:rPr b="1" lang="ru" sz="1100"/>
              <a:t>нативные языки — Java/Kotlin для Android и Swift/Objective-C для iOS</a:t>
            </a:r>
            <a:r>
              <a:rPr lang="ru" sz="1100"/>
              <a:t>.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100"/>
              <a:t>Итог</a:t>
            </a:r>
            <a:r>
              <a:rPr lang="ru" sz="1100"/>
              <a:t>: На сегодняшний день </a:t>
            </a:r>
            <a:r>
              <a:rPr b="1" lang="ru" sz="1100"/>
              <a:t>основная и наиболее производительная часть приложения Instagram написана на нативных технологиях</a:t>
            </a:r>
            <a:r>
              <a:rPr lang="ru" sz="1100"/>
              <a:t> . React Native используется лишь для отдельных, некритичных к производительности модулей . История Instagram — это путь от компромисса ради скорости к бескомпромиссной производительности.</a:t>
            </a:r>
            <a:endParaRPr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4"/>
          <p:cNvSpPr txBox="1"/>
          <p:nvPr>
            <p:ph type="title"/>
          </p:nvPr>
        </p:nvSpPr>
        <p:spPr>
          <a:xfrm>
            <a:off x="226075" y="357800"/>
            <a:ext cx="2808000" cy="1152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SzPts val="990"/>
              <a:buNone/>
            </a:pPr>
            <a:r>
              <a:rPr b="1" lang="ru" sz="167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Minecraft Pocket Edition: Триумф нативного кода для тотальной кроссплатформенности</a:t>
            </a:r>
            <a:endParaRPr sz="2660">
              <a:solidFill>
                <a:srgbClr val="FFFFFF"/>
              </a:solidFill>
            </a:endParaRPr>
          </a:p>
        </p:txBody>
      </p:sp>
      <p:sp>
        <p:nvSpPr>
          <p:cNvPr id="150" name="Google Shape;150;p24"/>
          <p:cNvSpPr txBox="1"/>
          <p:nvPr>
            <p:ph idx="1" type="body"/>
          </p:nvPr>
        </p:nvSpPr>
        <p:spPr>
          <a:xfrm>
            <a:off x="226075" y="2358575"/>
            <a:ext cx="2808000" cy="214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24"/>
          <p:cNvSpPr txBox="1"/>
          <p:nvPr/>
        </p:nvSpPr>
        <p:spPr>
          <a:xfrm>
            <a:off x="3558800" y="1294200"/>
            <a:ext cx="5298000" cy="25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100"/>
              <a:t>Начало</a:t>
            </a:r>
            <a:r>
              <a:rPr lang="ru" sz="1100"/>
              <a:t>: Оригинальный Minecraft для ПК был написан на </a:t>
            </a:r>
            <a:r>
              <a:rPr b="1" lang="ru" sz="1100"/>
              <a:t>Java</a:t>
            </a:r>
            <a:r>
              <a:rPr lang="ru" sz="1100"/>
              <a:t>. Однако для мобильных устройств (Pocket Edition) требовалась высокая производительность и эффективное использование ресурсов, поэтому его </a:t>
            </a:r>
            <a:r>
              <a:rPr b="1" lang="ru" sz="1100"/>
              <a:t>переписали с нуля на C++</a:t>
            </a:r>
            <a:r>
              <a:rPr lang="ru" sz="1100"/>
              <a:t>.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100"/>
              <a:t>Эволюция</a:t>
            </a:r>
            <a:r>
              <a:rPr lang="ru" sz="1100"/>
              <a:t>: Этот мобильный C++ код оказался настолько удачным, что его превратили в основу для </a:t>
            </a:r>
            <a:r>
              <a:rPr b="1" lang="ru" sz="1100"/>
              <a:t>Bedrock Engine</a:t>
            </a:r>
            <a:r>
              <a:rPr lang="ru" sz="1100"/>
              <a:t>. На его базе была создана </a:t>
            </a:r>
            <a:r>
              <a:rPr b="1" lang="ru" sz="1100"/>
              <a:t>Bedrock Edition</a:t>
            </a:r>
            <a:r>
              <a:rPr lang="ru" sz="1100"/>
              <a:t>, которая объединила под единым кодом </a:t>
            </a:r>
            <a:r>
              <a:rPr b="1" lang="ru" sz="1100"/>
              <a:t>девять основных платформ</a:t>
            </a:r>
            <a:r>
              <a:rPr lang="ru" sz="1100"/>
              <a:t>: Android, iOS, Windows, Xbox, PlayStation, Nintendo Switch и другие .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100"/>
              <a:t>Итог</a:t>
            </a:r>
            <a:r>
              <a:rPr lang="ru" sz="1100"/>
              <a:t>: </a:t>
            </a:r>
            <a:r>
              <a:rPr b="1" lang="ru" sz="1100"/>
              <a:t>Bedrock Engine написан на C++ и является на 99% общим кодом для всех платформ</a:t>
            </a:r>
            <a:r>
              <a:rPr lang="ru" sz="1100"/>
              <a:t> . Это блестящий пример того, как мощный нативный язык (C++) позволяет создать единую, высокопроизводительную кодовую базу для всего множества устройств. Для каждой платформы есть лишь небольшой слой «родного» кода для интеграции .</a:t>
            </a:r>
            <a:endParaRPr sz="1100"/>
          </a:p>
        </p:txBody>
      </p:sp>
      <p:pic>
        <p:nvPicPr>
          <p:cNvPr id="152" name="Google Shape;152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0500" y="1510700"/>
            <a:ext cx="1799144" cy="34029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Что выбрать</a:t>
            </a:r>
            <a:endParaRPr/>
          </a:p>
        </p:txBody>
      </p:sp>
      <p:sp>
        <p:nvSpPr>
          <p:cNvPr id="158" name="Google Shape;158;p25"/>
          <p:cNvSpPr txBox="1"/>
          <p:nvPr>
            <p:ph idx="1" type="body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ru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Натив</a:t>
            </a:r>
            <a:r>
              <a:rPr lang="ru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→ когда важнее всего </a:t>
            </a:r>
            <a:r>
              <a:rPr b="1" lang="ru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производительность, стабильность и доступ к новым функциям ОС</a:t>
            </a:r>
            <a:r>
              <a:rPr lang="ru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Платите больше, но получаете максимум. </a:t>
            </a:r>
            <a:endParaRPr sz="2000"/>
          </a:p>
        </p:txBody>
      </p:sp>
      <p:sp>
        <p:nvSpPr>
          <p:cNvPr id="159" name="Google Shape;159;p25"/>
          <p:cNvSpPr txBox="1"/>
          <p:nvPr>
            <p:ph idx="2" type="body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ru">
                <a:solidFill>
                  <a:srgbClr val="000000"/>
                </a:solidFill>
              </a:rPr>
              <a:t>React Native берите, если у вас есть JS-команда и нужно быстро и дёшево запустить типовое приложение (e-commerce, доставка, маркетплейс). Flutter выбирайте, если на первом месте уникальный дизайн, который должен выглядеть одинаково на всех платформах, и вы не боитесь учить Dart </a:t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6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Спасибо за внимание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aterial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1A237E"/>
      </a:accent5>
      <a:accent6>
        <a:srgbClr val="F4B400"/>
      </a:accent6>
      <a:hlink>
        <a:srgbClr val="1A237E"/>
      </a:hlink>
      <a:folHlink>
        <a:srgbClr val="1A237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