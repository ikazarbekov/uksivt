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c1f7541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8c1f7541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88baa2f9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88baa2f9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8c1f7541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8c1f7541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8c1f7541f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8c1f7541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8c1f7541f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8c1f7541f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88baa2f9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88baa2f9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8baa2f9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88baa2f9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8c1f7541f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8c1f7541f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8c1f7541f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8c1f7541f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8c1f7541f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8c1f7541f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88baa2f9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88baa2f9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88baa2f9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88baa2f9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8c1f754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8c1f754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jp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маршрутизация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RIP 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24п2 Казарбеков Ильяс Халимович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RIP это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171500" y="1555925"/>
            <a:ext cx="3400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это аббревиатура от латинской фразы Requiescat in pace, что означает «покойся с миром» и используется как надпись на надгробиях или в памяти об умершем. </a:t>
            </a:r>
            <a:r>
              <a:rPr b="1" lang="ru" sz="1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(этот слайд для шутки, его можно удалить)</a:t>
            </a:r>
            <a:endParaRPr b="1" sz="1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298" y="1307850"/>
            <a:ext cx="5210951" cy="283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это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RIP (Routing Information Protocol)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 — это простой протокол динамической маршрутизации на основе distance-vector routing algorithm, который выбирает маршрут по числу переходов (до 15) и периодически обновляет таблицы маршрутов между соседними устройствами.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Зачем нужна маршрутизация ?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300" y="1784324"/>
            <a:ext cx="2100875" cy="18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8075" y="1171450"/>
            <a:ext cx="4727050" cy="33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300"/>
              <a:t>‹#›</a:t>
            </a:fld>
            <a:endParaRPr sz="1300"/>
          </a:p>
        </p:txBody>
      </p:sp>
      <p:pic>
        <p:nvPicPr>
          <p:cNvPr id="160" name="Google Shape;16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8075" y="1171428"/>
            <a:ext cx="4727050" cy="330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8075" y="1171428"/>
            <a:ext cx="4727050" cy="330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1250" y="3843650"/>
            <a:ext cx="1408576" cy="9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61225" y="2495650"/>
            <a:ext cx="1408576" cy="9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7525" y="3789700"/>
            <a:ext cx="1408576" cy="9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00875" y="1567538"/>
            <a:ext cx="1408576" cy="9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0325" y="2804162"/>
            <a:ext cx="1408576" cy="9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0525" y="3605613"/>
            <a:ext cx="1408576" cy="985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16"/>
          <p:cNvCxnSpPr/>
          <p:nvPr/>
        </p:nvCxnSpPr>
        <p:spPr>
          <a:xfrm flipH="1" rot="10800000">
            <a:off x="4186125" y="3235050"/>
            <a:ext cx="557700" cy="411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6"/>
          <p:cNvCxnSpPr/>
          <p:nvPr/>
        </p:nvCxnSpPr>
        <p:spPr>
          <a:xfrm>
            <a:off x="5573313" y="2907550"/>
            <a:ext cx="414900" cy="245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6"/>
          <p:cNvCxnSpPr/>
          <p:nvPr/>
        </p:nvCxnSpPr>
        <p:spPr>
          <a:xfrm>
            <a:off x="6131813" y="3481175"/>
            <a:ext cx="11400" cy="579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6"/>
          <p:cNvCxnSpPr/>
          <p:nvPr/>
        </p:nvCxnSpPr>
        <p:spPr>
          <a:xfrm flipH="1" rot="10800000">
            <a:off x="6490300" y="4120000"/>
            <a:ext cx="576000" cy="103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6"/>
          <p:cNvCxnSpPr/>
          <p:nvPr/>
        </p:nvCxnSpPr>
        <p:spPr>
          <a:xfrm rot="10800000">
            <a:off x="7265675" y="2842850"/>
            <a:ext cx="167100" cy="1104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Hop - что это</a:t>
            </a:r>
            <a:endParaRPr/>
          </a:p>
        </p:txBody>
      </p:sp>
      <p:sp>
        <p:nvSpPr>
          <p:cNvPr id="178" name="Google Shape;178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>
                <a:latin typeface="Montserrat"/>
                <a:ea typeface="Montserrat"/>
                <a:cs typeface="Montserrat"/>
                <a:sym typeface="Montserrat"/>
              </a:rPr>
              <a:t>хоп (hop)</a:t>
            </a: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 — это </a:t>
            </a:r>
            <a:r>
              <a:rPr b="1" lang="ru" sz="1600">
                <a:latin typeface="Montserrat"/>
                <a:ea typeface="Montserrat"/>
                <a:cs typeface="Montserrat"/>
                <a:sym typeface="Montserrat"/>
              </a:rPr>
              <a:t>переход пакета от одного сетевого устройства к другому</a:t>
            </a: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, обычно от маршрутизатора к маршрутизатору, по пути к конечному узлу.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80" name="Google Shape;1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300" y="2933300"/>
            <a:ext cx="2208849" cy="154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425" y="332300"/>
            <a:ext cx="2208849" cy="154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500" y="2889675"/>
            <a:ext cx="2208849" cy="1545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17"/>
          <p:cNvCxnSpPr/>
          <p:nvPr/>
        </p:nvCxnSpPr>
        <p:spPr>
          <a:xfrm flipH="1" rot="10800000">
            <a:off x="5438800" y="1453275"/>
            <a:ext cx="688500" cy="18525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7"/>
          <p:cNvCxnSpPr/>
          <p:nvPr/>
        </p:nvCxnSpPr>
        <p:spPr>
          <a:xfrm>
            <a:off x="6807000" y="1453175"/>
            <a:ext cx="1113300" cy="1869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17"/>
          <p:cNvSpPr txBox="1"/>
          <p:nvPr/>
        </p:nvSpPr>
        <p:spPr>
          <a:xfrm>
            <a:off x="4920425" y="1835875"/>
            <a:ext cx="858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 Хоп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7418325" y="1733550"/>
            <a:ext cx="858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Хоп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 маршрутизации</a:t>
            </a:r>
            <a:endParaRPr/>
          </a:p>
        </p:txBody>
      </p:sp>
      <p:sp>
        <p:nvSpPr>
          <p:cNvPr id="192" name="Google Shape;1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221000" y="1130250"/>
            <a:ext cx="7115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arenR"/>
            </a:pP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Периодические обновления</a:t>
            </a: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— RIP рассылает всю свою таблицу маршрутов соседям каждые </a:t>
            </a: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30 секунд</a:t>
            </a: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arenR"/>
            </a:pP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Метод векторного расстояния</a:t>
            </a: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— каждое обновление содержит информацию о том, сколько хопов (прыжков) нужно, чтобы достичь каждой сети.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arenR"/>
            </a:pP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Принятие новых маршрутов</a:t>
            </a: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— если сосед прислал маршрут короче (меньше хопов), RIP обновляет таблицу.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arenR"/>
            </a:pP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Таймеры и удаление устаревших маршрутов</a:t>
            </a: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— если маршрут не обновляется, через 180 секунд он считается недоступным (garbage collection через 240 сек).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200" y="3569225"/>
            <a:ext cx="2250074" cy="157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725" y="3569225"/>
            <a:ext cx="2250074" cy="1574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18"/>
          <p:cNvCxnSpPr/>
          <p:nvPr/>
        </p:nvCxnSpPr>
        <p:spPr>
          <a:xfrm>
            <a:off x="3484250" y="4249075"/>
            <a:ext cx="2286000" cy="110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Гибриды</a:t>
            </a:r>
            <a:endParaRPr/>
          </a:p>
        </p:txBody>
      </p:sp>
      <p:sp>
        <p:nvSpPr>
          <p:cNvPr id="202" name="Google Shape;202;p19"/>
          <p:cNvSpPr txBox="1"/>
          <p:nvPr>
            <p:ph idx="1" type="body"/>
          </p:nvPr>
        </p:nvSpPr>
        <p:spPr>
          <a:xfrm>
            <a:off x="1236075" y="13449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гибриды — это </a:t>
            </a: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гибридные протоколы маршрутизации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, которые сочетают черты </a:t>
            </a: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векторных (distance-vector)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состояния канала (link-state)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протоколов.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Используют метрики и периодические обновления, как в RIP (distance-vector).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Одновременно учитывают топологию сети и быстрые обновления, как в OSPF (link-state).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Примеры: </a:t>
            </a: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EIGRP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от Cisco.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Преимущество: </a:t>
            </a: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быстрая сходимость + масштабируемость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Чистый вид</a:t>
            </a:r>
            <a:endParaRPr/>
          </a:p>
        </p:txBody>
      </p:sp>
      <p:sp>
        <p:nvSpPr>
          <p:cNvPr id="209" name="Google Shape;209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Чистый вид RIP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 — это базовая форма протокола RIP, настроенная без дополнительных опций и расширений, когда протокол просто: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Обменивается маршрутами с соседними маршрутизаторами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 каждые 30 секунд.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Использует только количество хопов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 (прыжков) как метрику для выбора кратчайшего пути.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Поддерживает максимум 15 хопов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, считая 16 — недостижимым.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Не применяет сложные фильтры, политики или аутентификацию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 — то есть это самый «чистый» вариант, который демонстрирует принцип работы RIP.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/>
              <a:t>RIP версии 1 (RIP v1)</a:t>
            </a:r>
            <a:endParaRPr sz="3300"/>
          </a:p>
        </p:txBody>
      </p:sp>
      <p:sp>
        <p:nvSpPr>
          <p:cNvPr id="216" name="Google Shape;216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Старый стандарт.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Поддерживает только </a:t>
            </a: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классовую маршрутизацию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 (не учитывает маску подсети).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Отправляет </a:t>
            </a: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всю таблицу маршрутов каждые 30 секунд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Не поддерживает аутентификацию.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RIP версии 2 (RIP v2)</a:t>
            </a:r>
            <a:endParaRPr/>
          </a:p>
        </p:txBody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Поддерживает </a:t>
            </a: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безклассовую маршрутизацию (CIDR)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Можно включить </a:t>
            </a: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аутентификацию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маршрутов.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Позволяет </a:t>
            </a: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выбирать, какие сети анонсировать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(более гибкая настройка)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RIPng (RIP next generation)</a:t>
            </a:r>
            <a:endParaRPr/>
          </a:p>
        </p:txBody>
      </p:sp>
      <p:sp>
        <p:nvSpPr>
          <p:cNvPr id="230" name="Google Shape;230;p23"/>
          <p:cNvSpPr txBox="1"/>
          <p:nvPr>
            <p:ph idx="1" type="body"/>
          </p:nvPr>
        </p:nvSpPr>
        <p:spPr>
          <a:xfrm>
            <a:off x="1236075" y="1260475"/>
            <a:ext cx="7038900" cy="10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Для </a:t>
            </a: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IPv6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Функционально схож с RIP v2, но адаптирован под адресацию IPv6.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32" name="Google Shape;2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7775" y="2402850"/>
            <a:ext cx="3010448" cy="1768650"/>
          </a:xfrm>
          <a:prstGeom prst="rect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Преимущества</a:t>
            </a:r>
            <a:endParaRPr/>
          </a:p>
        </p:txBody>
      </p:sp>
      <p:sp>
        <p:nvSpPr>
          <p:cNvPr id="238" name="Google Shape;238;p24"/>
          <p:cNvSpPr txBox="1"/>
          <p:nvPr>
            <p:ph idx="1" type="body"/>
          </p:nvPr>
        </p:nvSpPr>
        <p:spPr>
          <a:xfrm>
            <a:off x="1236100" y="3056788"/>
            <a:ext cx="6970500" cy="15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0241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arenR"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Простота настройки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 — легко внедряется и не требует сложной конфигурации.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0241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arenR"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Стандартизированность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 — поддерживается большинством сетевых устройств.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0241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arenR"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Низкая нагрузка на сеть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 — периодические обновления таблиц маршрутов небольшого объема.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0241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arenR"/>
            </a:pPr>
            <a:r>
              <a:rPr b="1" lang="ru" sz="1500">
                <a:latin typeface="Montserrat"/>
                <a:ea typeface="Montserrat"/>
                <a:cs typeface="Montserrat"/>
                <a:sym typeface="Montserrat"/>
              </a:rPr>
              <a:t>Подходит для небольших сетей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 — эффективно работает в простых топологиях без сложных маршрутов.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40" name="Google Shape;2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4863" y="1230150"/>
            <a:ext cx="4226775" cy="144907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FF00"/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Недостатки</a:t>
            </a:r>
            <a:endParaRPr/>
          </a:p>
        </p:txBody>
      </p:sp>
      <p:sp>
        <p:nvSpPr>
          <p:cNvPr id="246" name="Google Shape;246;p25"/>
          <p:cNvSpPr txBox="1"/>
          <p:nvPr>
            <p:ph idx="1" type="body"/>
          </p:nvPr>
        </p:nvSpPr>
        <p:spPr>
          <a:xfrm>
            <a:off x="1013350" y="1212950"/>
            <a:ext cx="4790400" cy="3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arenR"/>
            </a:pP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Медленная сходимость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— изменения топологии сети распространяются долго, что может вызывать «маршрутные петли».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arenR"/>
            </a:pP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Ограничение хопов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— максимум 15 переходов, дальше сеть считается недостижимой.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arenR"/>
            </a:pP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Неэффективен для больших сетей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— плохо масштабируется.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arenR"/>
            </a:pPr>
            <a:r>
              <a:rPr b="1" lang="ru" sz="1400">
                <a:latin typeface="Montserrat"/>
                <a:ea typeface="Montserrat"/>
                <a:cs typeface="Montserrat"/>
                <a:sym typeface="Montserrat"/>
              </a:rPr>
              <a:t>Простейшая метрика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— учитывается только количество переходов, а не скорость или загруженность каналов.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3100" y="1838813"/>
            <a:ext cx="2561200" cy="1588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25"/>
          <p:cNvCxnSpPr/>
          <p:nvPr/>
        </p:nvCxnSpPr>
        <p:spPr>
          <a:xfrm>
            <a:off x="5780675" y="1850125"/>
            <a:ext cx="2525700" cy="1581300"/>
          </a:xfrm>
          <a:prstGeom prst="straightConnector1">
            <a:avLst/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5"/>
          <p:cNvCxnSpPr/>
          <p:nvPr/>
        </p:nvCxnSpPr>
        <p:spPr>
          <a:xfrm flipH="1">
            <a:off x="5765325" y="1873150"/>
            <a:ext cx="2525700" cy="1550700"/>
          </a:xfrm>
          <a:prstGeom prst="straightConnector1">
            <a:avLst/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  <p:sp>
        <p:nvSpPr>
          <p:cNvPr id="256" name="Google Shape;25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